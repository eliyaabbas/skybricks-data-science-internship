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864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9144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5400" b="1">
                <a:solidFill>
                  <a:srgbClr val="FFFFFF"/>
                </a:solidFill>
                <a:latin typeface="Segoe UI Light"/>
              </a:defRPr>
            </a:pPr>
            <a:r>
              <a:t>Project Learnings &amp;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1" y="3657600"/>
            <a:ext cx="8714095" cy="1661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2800">
                <a:solidFill>
                  <a:srgbClr val="B4B4BC"/>
                </a:solidFill>
                <a:latin typeface="Segoe UI"/>
              </a:defRPr>
            </a:pPr>
            <a:r>
              <a:rPr dirty="0"/>
              <a:t>Customer Churn Data vs. </a:t>
            </a:r>
            <a:r>
              <a:rPr lang="en-US" dirty="0"/>
              <a:t>Netflix</a:t>
            </a:r>
            <a:r>
              <a:rPr dirty="0"/>
              <a:t> Data</a:t>
            </a:r>
            <a:endParaRPr lang="en-US" dirty="0"/>
          </a:p>
          <a:p>
            <a:pPr>
              <a:defRPr sz="2800">
                <a:solidFill>
                  <a:srgbClr val="B4B4BC"/>
                </a:solidFill>
                <a:latin typeface="Segoe UI"/>
              </a:defRPr>
            </a:pPr>
            <a:r>
              <a:rPr lang="en-US" dirty="0"/>
              <a:t> </a:t>
            </a:r>
          </a:p>
          <a:p>
            <a:pPr>
              <a:defRPr sz="2800">
                <a:solidFill>
                  <a:srgbClr val="B4B4BC"/>
                </a:solidFill>
                <a:latin typeface="Segoe UI"/>
              </a:defRPr>
            </a:pPr>
            <a:r>
              <a:rPr dirty="0"/>
              <a:t>Data Science Exploratory Analysis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8B5D1F-4BEF-21A2-B53A-0146A68E5E69}"/>
              </a:ext>
            </a:extLst>
          </p:cNvPr>
          <p:cNvSpPr txBox="1"/>
          <p:nvPr/>
        </p:nvSpPr>
        <p:spPr>
          <a:xfrm>
            <a:off x="9967414" y="6308213"/>
            <a:ext cx="22245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By Eliya Abbas Sayyed</a:t>
            </a: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4000" b="1">
                <a:solidFill>
                  <a:srgbClr val="E63946"/>
                </a:solidFill>
                <a:latin typeface="Segoe UI"/>
              </a:defRPr>
            </a:pPr>
            <a:r>
              <a:t>Project Overviews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645920"/>
            <a:ext cx="4754880" cy="4114800"/>
          </a:xfrm>
          <a:prstGeom prst="roundRect">
            <a:avLst/>
          </a:prstGeom>
          <a:solidFill>
            <a:srgbClr val="2D2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rPr dirty="0"/>
              <a:t>📱 Telecom Customer Churn</a:t>
            </a:r>
          </a:p>
          <a:p>
            <a:pPr>
              <a:defRPr sz="2200">
                <a:solidFill>
                  <a:srgbClr val="B4B4BC"/>
                </a:solidFill>
                <a:latin typeface="Segoe UI"/>
              </a:defRPr>
            </a:pPr>
            <a:r>
              <a:rPr dirty="0"/>
              <a:t>Goal: Identify drivers of customer attrition to reduce churn.</a:t>
            </a:r>
          </a:p>
          <a:p>
            <a:pPr>
              <a:defRPr sz="2200">
                <a:solidFill>
                  <a:srgbClr val="B4B4BC"/>
                </a:solidFill>
                <a:latin typeface="Segoe UI"/>
              </a:defRPr>
            </a:pPr>
            <a:r>
              <a:rPr dirty="0"/>
              <a:t>Key Focus: Extensive predictive numerical feature engineering (Tenure groups, avg spend metrics).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92240" y="1645920"/>
            <a:ext cx="4754880" cy="4114800"/>
          </a:xfrm>
          <a:prstGeom prst="roundRect">
            <a:avLst/>
          </a:prstGeom>
          <a:solidFill>
            <a:srgbClr val="2D2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rPr dirty="0"/>
              <a:t>🎬 Netflix Entertainment Data</a:t>
            </a:r>
          </a:p>
          <a:p>
            <a:pPr>
              <a:defRPr sz="2200">
                <a:solidFill>
                  <a:srgbClr val="B4B4BC"/>
                </a:solidFill>
                <a:latin typeface="Segoe UI"/>
              </a:defRPr>
            </a:pPr>
            <a:r>
              <a:rPr dirty="0"/>
              <a:t>Goal: Discover content generation trends and regional genre popularity.</a:t>
            </a:r>
          </a:p>
          <a:p>
            <a:pPr>
              <a:defRPr sz="2200">
                <a:solidFill>
                  <a:srgbClr val="B4B4BC"/>
                </a:solidFill>
                <a:latin typeface="Segoe UI"/>
              </a:defRPr>
            </a:pPr>
            <a:r>
              <a:rPr dirty="0"/>
              <a:t>Key Focus: Categorical parsing, time-series analysis, and volume heat mapping.</a:t>
            </a: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4000" b="1">
                <a:solidFill>
                  <a:srgbClr val="E63946"/>
                </a:solidFill>
                <a:latin typeface="Segoe UI"/>
              </a:defRPr>
            </a:pPr>
            <a:r>
              <a:rPr dirty="0"/>
              <a:t>Comparison of Analytical Approaches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63205"/>
            <a:ext cx="10698480" cy="4278094"/>
          </a:xfrm>
          <a:prstGeom prst="rect">
            <a:avLst/>
          </a:prstGeom>
          <a:noFill/>
        </p:spPr>
        <p:txBody>
          <a:bodyPr wrap="square" numCol="2">
            <a:spAutoFit/>
          </a:bodyPr>
          <a:lstStyle/>
          <a:p>
            <a:pPr lvl="1">
              <a:defRPr sz="2600">
                <a:solidFill>
                  <a:srgbClr val="E63946"/>
                </a:solidFill>
                <a:latin typeface="Segoe UI"/>
              </a:defRPr>
            </a:pPr>
            <a:r>
              <a:rPr dirty="0"/>
              <a:t>1. Behavioral (Churn) Data Strategy:</a:t>
            </a:r>
          </a:p>
          <a:p>
            <a:pPr lvl="2">
              <a:defRPr sz="2000">
                <a:solidFill>
                  <a:srgbClr val="B4B4BC"/>
                </a:solidFill>
                <a:latin typeface="Segoe UI"/>
              </a:defRPr>
            </a:pPr>
            <a:r>
              <a:rPr dirty="0"/>
              <a:t>Required heavy numerical transformation (calculating spending ratios, one-hot encoding categorical flags like </a:t>
            </a:r>
            <a:r>
              <a:rPr dirty="0" err="1"/>
              <a:t>PaperlessBilling</a:t>
            </a:r>
            <a:r>
              <a:rPr dirty="0"/>
              <a:t>).</a:t>
            </a:r>
          </a:p>
          <a:p>
            <a:pPr lvl="2">
              <a:defRPr sz="2000">
                <a:solidFill>
                  <a:srgbClr val="B4B4BC"/>
                </a:solidFill>
                <a:latin typeface="Segoe UI"/>
              </a:defRPr>
            </a:pPr>
            <a:r>
              <a:rPr dirty="0"/>
              <a:t>Focus was correlational — modeling how variables directly interact with the probability of customer departure.</a:t>
            </a:r>
          </a:p>
          <a:p>
            <a:pPr lvl="1">
              <a:defRPr sz="2600">
                <a:solidFill>
                  <a:srgbClr val="E63946"/>
                </a:solidFill>
                <a:latin typeface="Segoe UI"/>
              </a:defRPr>
            </a:pPr>
            <a:endParaRPr lang="en-US" dirty="0"/>
          </a:p>
          <a:p>
            <a:pPr lvl="1">
              <a:defRPr sz="2600">
                <a:solidFill>
                  <a:srgbClr val="E63946"/>
                </a:solidFill>
                <a:latin typeface="Segoe UI"/>
              </a:defRPr>
            </a:pPr>
            <a:endParaRPr lang="en-US" dirty="0"/>
          </a:p>
          <a:p>
            <a:pPr lvl="1">
              <a:defRPr sz="2600">
                <a:solidFill>
                  <a:srgbClr val="E63946"/>
                </a:solidFill>
                <a:latin typeface="Segoe UI"/>
              </a:defRPr>
            </a:pPr>
            <a:endParaRPr lang="en-US" dirty="0"/>
          </a:p>
          <a:p>
            <a:pPr lvl="1">
              <a:defRPr sz="2600">
                <a:solidFill>
                  <a:srgbClr val="E63946"/>
                </a:solidFill>
                <a:latin typeface="Segoe UI"/>
              </a:defRPr>
            </a:pPr>
            <a:r>
              <a:rPr dirty="0"/>
              <a:t>2. Categorical &amp; Temporal (Netflix) Data Strategy:</a:t>
            </a:r>
          </a:p>
          <a:p>
            <a:pPr lvl="2">
              <a:defRPr sz="2000">
                <a:solidFill>
                  <a:srgbClr val="B4B4BC"/>
                </a:solidFill>
                <a:latin typeface="Segoe UI"/>
              </a:defRPr>
            </a:pPr>
            <a:r>
              <a:rPr dirty="0"/>
              <a:t>Required string manipulation, nested list explosions (genres/countries), and robust date parsing logic.</a:t>
            </a:r>
          </a:p>
          <a:p>
            <a:pPr lvl="2">
              <a:defRPr sz="2000">
                <a:solidFill>
                  <a:srgbClr val="B4B4BC"/>
                </a:solidFill>
                <a:latin typeface="Segoe UI"/>
              </a:defRPr>
            </a:pPr>
            <a:r>
              <a:rPr dirty="0"/>
              <a:t>Focus was distributional and geospatial — tracking how volume behaviors evolve over time and across targeted geographies.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0894BE-D117-22B3-89A7-CA044492094D}"/>
              </a:ext>
            </a:extLst>
          </p:cNvPr>
          <p:cNvSpPr txBox="1"/>
          <p:nvPr/>
        </p:nvSpPr>
        <p:spPr>
          <a:xfrm>
            <a:off x="948518" y="1232208"/>
            <a:ext cx="875503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C8C8C8"/>
                </a:solidFill>
              </a:defRPr>
            </a:pPr>
            <a:r>
              <a:rPr lang="en-US" dirty="0"/>
              <a:t>Both projects required deeply divergent, yet highly complementary data handling strategies:</a:t>
            </a:r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4000" b="1">
                <a:solidFill>
                  <a:srgbClr val="E63946"/>
                </a:solidFill>
                <a:latin typeface="Segoe UI"/>
              </a:defRPr>
            </a:pPr>
            <a:r>
              <a:t>Key Business Insights Extracted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4179413"/>
              </p:ext>
            </p:extLst>
          </p:nvPr>
        </p:nvGraphicFramePr>
        <p:xfrm>
          <a:off x="914400" y="1645920"/>
          <a:ext cx="10241280" cy="3749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19200">
                <a:tc>
                  <a:txBody>
                    <a:bodyPr/>
                    <a:lstStyle/>
                    <a:p>
                      <a:pPr algn="ctr">
                        <a:defRPr sz="2400" b="1">
                          <a:solidFill>
                            <a:srgbClr val="FFFFFF"/>
                          </a:solidFill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Telecom Churn Insight</a:t>
                      </a:r>
                    </a:p>
                  </a:txBody>
                  <a:tcPr>
                    <a:solidFill>
                      <a:srgbClr val="E639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400" b="1">
                          <a:solidFill>
                            <a:srgbClr val="FFFFFF"/>
                          </a:solidFill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Entertainment Data Insight</a:t>
                      </a:r>
                    </a:p>
                  </a:txBody>
                  <a:tcPr>
                    <a:solidFill>
                      <a:srgbClr val="E639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00">
                <a:tc>
                  <a:txBody>
                    <a:bodyPr/>
                    <a:lstStyle/>
                    <a:p>
                      <a:pPr>
                        <a:defRPr sz="2000">
                          <a:solidFill>
                            <a:srgbClr val="FFFFFF"/>
                          </a:solidFill>
                        </a:defRPr>
                      </a:pPr>
                      <a:r>
                        <a:rPr dirty="0">
                          <a:solidFill>
                            <a:schemeClr val="tx1"/>
                          </a:solidFill>
                        </a:rPr>
                        <a:t>Contract length transparency and High-cost services directly drive churn (42% month-to-month turn-over vs 2.8% on two-year).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>
                          <a:solidFill>
                            <a:srgbClr val="FFFFFF"/>
                          </a:solidFill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Explosive pivot towards global original series starting in 2015, heavily anchored by US and India markets creating highly specialized local content.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00">
                <a:tc>
                  <a:txBody>
                    <a:bodyPr/>
                    <a:lstStyle/>
                    <a:p>
                      <a:pPr>
                        <a:defRPr sz="2000">
                          <a:solidFill>
                            <a:srgbClr val="A0C8FF"/>
                          </a:solidFill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Action: Implement strategic retention policies via targeted long-term incentives when users initially sign up.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>
                          <a:solidFill>
                            <a:srgbClr val="A0C8FF"/>
                          </a:solidFill>
                        </a:defRPr>
                      </a:pPr>
                      <a:r>
                        <a:rPr dirty="0">
                          <a:solidFill>
                            <a:schemeClr val="tx1"/>
                          </a:solidFill>
                        </a:rPr>
                        <a:t>Action: Maintain focus on highly targeted, region-specific episodic TV shows which outperform movies in retaining subscribers.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4000" b="1">
                <a:solidFill>
                  <a:srgbClr val="E63946"/>
                </a:solidFill>
                <a:latin typeface="Segoe UI"/>
              </a:defRPr>
            </a:pPr>
            <a:r>
              <a:t>The Grand Synthesis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58686" y="1473135"/>
            <a:ext cx="9169827" cy="37087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 algn="ctr">
              <a:spcAft>
                <a:spcPts val="3000"/>
              </a:spcAft>
              <a:defRPr sz="3600" b="1">
                <a:solidFill>
                  <a:srgbClr val="FFFFFF"/>
                </a:solidFill>
              </a:defRPr>
            </a:pPr>
            <a:r>
              <a:rPr dirty="0"/>
              <a:t>Both projects ultimately solve the same core business problem: User Retention.</a:t>
            </a:r>
          </a:p>
          <a:p>
            <a:pPr algn="ctr">
              <a:defRPr sz="2400">
                <a:solidFill>
                  <a:srgbClr val="B4B4BC"/>
                </a:solidFill>
              </a:defRPr>
            </a:pPr>
            <a:r>
              <a:rPr dirty="0"/>
              <a:t>The Telecom behavioral data illuminated exactly WHY users depart a platform (due to rigid costs and lack of contract lock-in). Conversely, the Netflix content data demonstrated exactly HOW to keep users engaged (by constantly feeding them highly tailored, regionally relevant bingeable content).</a:t>
            </a:r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339</Words>
  <Application>Microsoft Office PowerPoint</Application>
  <PresentationFormat>Widescreen</PresentationFormat>
  <Paragraphs>40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SpiderEL</cp:lastModifiedBy>
  <cp:revision>2</cp:revision>
  <dcterms:created xsi:type="dcterms:W3CDTF">2013-01-27T09:14:16Z</dcterms:created>
  <dcterms:modified xsi:type="dcterms:W3CDTF">2026-02-20T03:34:28Z</dcterms:modified>
  <cp:category/>
</cp:coreProperties>
</file>